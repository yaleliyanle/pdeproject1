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R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65836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Numerical PDE Coursework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43400" y="65836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68C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Financial SDE Numerical Methods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58368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7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960120"/>
            <a:ext cx="9902952" cy="1234440"/>
          </a:xfrm>
          <a:prstGeom prst="round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417320" y="1161288"/>
            <a:ext cx="9354312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Numerical Simulation of Financial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Stochastic Differential Equations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2441448"/>
            <a:ext cx="9445752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8C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Euler–Maruyama to Nested-Grid Verification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828800" y="3246120"/>
            <a:ext cx="8531352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Name: ____________________      Student ID: ____________________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3886200"/>
            <a:ext cx="8531352" cy="365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Numerical Partial Differential Equations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4407408"/>
            <a:ext cx="8531352" cy="365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September 2026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291840" y="5074920"/>
            <a:ext cx="560527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Purpose of the Presentation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749808"/>
            <a:ext cx="110185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Audience: students familiar with elementary probability and the explicit Euler method, without prior stochastic calculus or finance.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658368" y="129844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Discretise a stochastic differential equation on a time grid.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58368" y="2157984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Monte Carlo averages to estimate expectations and uncertainty.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658368" y="3017520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the difference between Euler–Maruyama and Milstein.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658368" y="3877056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strong convergence from weak convergence.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58368" y="473659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a solver when no exact solution is available.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8368" y="559612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clearly what the numerical evidence does and does not establish.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Numerical Workflow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377440" cy="9144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1307592"/>
            <a:ext cx="2231136" cy="7680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model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dZ = a(Z)dt + b(Z)dW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2852928" y="1536192"/>
            <a:ext cx="320040" cy="310896"/>
          </a:xfrm>
          <a:prstGeom prst="chevron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37560" y="1234440"/>
            <a:ext cx="2377440" cy="9144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10712" y="1307592"/>
            <a:ext cx="2231136" cy="7680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grid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tₙ = nh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33288" y="1536192"/>
            <a:ext cx="320040" cy="310896"/>
          </a:xfrm>
          <a:prstGeom prst="chevron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34440"/>
            <a:ext cx="2377440" cy="9144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91072" y="1307592"/>
            <a:ext cx="2231136" cy="7680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stepping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/ Milstein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613648" y="1536192"/>
            <a:ext cx="320040" cy="310896"/>
          </a:xfrm>
          <a:prstGeom prst="chevron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1234440"/>
            <a:ext cx="2377440" cy="9144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1307592"/>
            <a:ext cx="2231136" cy="7680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Repeated paths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2926080" y="3063240"/>
            <a:ext cx="25146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99232" y="3136392"/>
            <a:ext cx="2368296" cy="7680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Error analysis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/ weak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532120" y="3364992"/>
            <a:ext cx="347472" cy="310896"/>
          </a:xfrm>
          <a:prstGeom prst="chevron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89320" y="3063240"/>
            <a:ext cx="283464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3136392"/>
            <a:ext cx="2688336" cy="76809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slopes, intervals, diagnostics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276088" y="2267712"/>
            <a:ext cx="420624" cy="594360"/>
          </a:xfrm>
          <a:prstGeom prst="downArrow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1560" y="4709160"/>
            <a:ext cx="10085832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79576" y="4782312"/>
            <a:ext cx="9829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numerical-analysis question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79576" y="5038344"/>
            <a:ext cx="9829800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simulation is credible only when the discretisation, error reduction, statistical uncertainty, and reproducibility are explicit.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Connection with Numerical PDEs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dSₜ = a(Sₜ)dt + b(Sₜ)dWₜ, define the conditional expectation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u(t,s) = E[ φ(Sₜ) | Sₜ = s ]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uₜ + a(s)uₛ + ½b(s)²uₛₛ = 0,      u(T,s) = φ(s)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PDE route: discretise the derivatives on a grid in (t,s).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coursework: discretise random paths in time and approximate the expectation by Monte Carlo.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connection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central ideas remain discretisation, convergence, stable computation, and error quantification.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Models, Two Numerical Roles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201400" cy="443484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754880"/>
              </a:tblGrid>
              <a:tr h="739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Aspect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 1: GBM benchmark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Model 2: non-affine model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Purpose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solution for verification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Realistic test without a closed form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Methods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update, EM, Milstein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Log-variable Euler–Maruyama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Outputs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Strong/weak errors and moments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Nested-grid differences and nonlinear observables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Reference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terminal value on the same path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much finer numerical grid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Main issue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Path error versus expectation error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Error in the numerical reference</a:t>
                      </a:r>
                      <a:endParaRPr lang="en-US" sz="13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the implementation on an exact benchmark before using it in a model without an exact solution.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From the Euler method to stochastic time stepping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58368" y="1728216"/>
            <a:ext cx="109270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Model 1: verification against an exact solution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58368" y="2651760"/>
            <a:ext cx="109270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Model 2: nested-grid verification without an exact solution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3575304"/>
            <a:ext cx="109270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Evaluation, reproducibility, and conclusions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8368" y="4498848"/>
            <a:ext cx="1092708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Backup derivations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423160"/>
            <a:ext cx="10149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From the Euler Method to Stochastic Time Stepping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0" y="3255264"/>
            <a:ext cx="670255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3502152"/>
            <a:ext cx="9445752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grids, Brownian increments, Monte Carlo, and convergence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Review: Explicit Euler for an ODE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y′(t)=f(y), introduce tₙ=nh with h=T/N.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y(tₙ₊₁) − y(tₙ) ≈ f(yₙ)h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      yₙ₊₁ = yₙ + f(yₙ)h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evolution is replaced by many short steps. A smaller h usually improves the approximation at greater computational cost.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SDE Adds a Random Increment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scalar stochastic differential equation has two contributions: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dZₜ = a(Zₜ)dt + b(Zₜ)dWₜ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a(Zₜ)dt: drift, analogous to deterministic ODE motion.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b(Zₜ)dWₜ: diffusion, representing random fluctuations.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391363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Brownian paths are not differentiable, so an ordinary Taylor expansion is insufficient.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One-step viewpoint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both coefficients at the left endpoint to obtain the basic stochastic Euler method.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Brownian Increments in the Code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program generates independent standard normal variables Zₙ.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ΔWₙ = Wₜₙ₊₁ − Wₜₙ  ~  N(0,h),        ΔWₙ = √h Zₙ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E[ΔWₙ] = 0: positive and negative disturbances cancel on average.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SD(ΔWₙ) = √h: the random increment is O(√h), not O(h).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error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hZₙ suppresses the stochastic term too rapidly and changes the limiting model.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Euler–Maruyama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drift and diffusion over a single time step: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Zₙ₊₁ = Zₙ + a(Zₙ)h + b(Zₙ)ΔWₙ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method is explicit and uses only the known state Zₙ.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increment sequence produces one approximate path.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391363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paths are required to estimate expectations and uncertainty.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Monte Carlo Estimation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independent samples X⁽¹⁾,…,X⁽ᴹ⁾, estimate E[X] by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m̂ᴹ = (1/M) Σᵢ X⁽ⁱ⁾,       SE(m̂ᴹ) ≈ sₓ/√M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95% CI:  m̂ᴹ ± 1.96 sₓ/√M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implication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Halving the Monte Carlo standard error requires approximately four times as many paths.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Contributions to the Total Error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Monte Carlo time-stepping estimate contains two conceptually different errors: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Q̂ₕ,ᴹ − Q = [ E(Qₕ) − Q ] + [ Q̂ₕ,ᴹ − E(Qₕ) ]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      time-discretisation bias        sampling noise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bias size: Chᵖ.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Typical sampling error: Cᴹ M⁻¹ᐟ².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design principle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measure p, sampling noise must remain below the time-discretisation error over the fitted grid range.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Stochastic Taylor Expansions Need a Correction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Itô's formula is the stochastic counterpart of the chain rule: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df(Zₜ) = f′(Zₜ)dZₜ + ½ f″(Zₜ)b(Zₜ)²dt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ΔW = O(√h), so (ΔW)² = O(h).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second-order random terms are as large as the deterministic drift term.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interpretation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Those second-order random terms cannot be discarded in a higher-accuracy pathwise method.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Milstein: One Additional Random Second-Order Term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dZ=a(Z)dt+b(Z)dW, the scalar Milstein update is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Zₙ₊₁ = Zₙ + a(Zₙ)h + b(Zₙ)ΔWₙ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+ ½ b(Zₙ)b′(Zₙ)[(ΔWₙ)² − h]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three terms are Euler–Maruyama.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correction has zero expectation because E[(ΔW)²]=h.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4398264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scalar problems, the strong order typically rises from 1/2 to 1.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Coupling Coarse and Fine Paths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one coarse step contains q fine steps, define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ΔWᶜₖ = Σⱼ₌₁ᑫ ΔWᶠₖ,ⱼ        and        ΔWᶜₖ ~ N(0,qhᶠ)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Coupled comparison: both solutions use the same Brownian path.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comparison: the difference is dominated by two different random paths.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coupling matters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error should isolate time-discretisation error rather than random-input differences.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Strong and Weak Errors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5394960" cy="324612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22376" y="1124712"/>
            <a:ext cx="513892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error: are paths close?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22376" y="1380744"/>
            <a:ext cx="5138928" cy="28437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e_strong(h) = E|Zᵀʰ − Zᵀ|</a:t>
            </a:r>
            <a:endParaRPr lang="en-US" sz="1420" dirty="0"/>
          </a:p>
          <a:p>
            <a:pPr algn="l" indent="0" marL="0">
              <a:buNone/>
            </a:pPr>
            <a:endParaRPr lang="en-US" sz="1420" dirty="0"/>
          </a:p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numerical and exact terminal values must share the same Brownian path.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6199632" y="1051560"/>
            <a:ext cx="5394960" cy="324612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27648" y="1124712"/>
            <a:ext cx="513892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error: are statistics close?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327648" y="1380744"/>
            <a:ext cx="5138928" cy="28437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e_weak(h) = |E φ(Zᵀʰ) − E φ(Zᵀ)|</a:t>
            </a:r>
            <a:endParaRPr lang="en-US" sz="1420" dirty="0"/>
          </a:p>
          <a:p>
            <a:pPr algn="l" indent="0" marL="0">
              <a:buNone/>
            </a:pPr>
            <a:endParaRPr lang="en-US" sz="1420" dirty="0"/>
          </a:p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the expectation of a chosen observable is compared.</a:t>
            </a:r>
            <a:endParaRPr lang="en-US" sz="1420" dirty="0"/>
          </a:p>
        </p:txBody>
      </p:sp>
      <p:sp>
        <p:nvSpPr>
          <p:cNvPr id="9" name="Shape 7"/>
          <p:cNvSpPr/>
          <p:nvPr/>
        </p:nvSpPr>
        <p:spPr>
          <a:xfrm>
            <a:off x="777240" y="4800600"/>
            <a:ext cx="10634472" cy="96012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4873752"/>
            <a:ext cx="10378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are not interchangeable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05256" y="5129784"/>
            <a:ext cx="10378440" cy="5577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method may be inaccurate path by path while estimating a particular expectation accurately.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Reading a Convergence Order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e(h) ≈ Chᵖ, take logarithms: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log e ≈ log C + p log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1/2: halving h multiplies the error by about 0.707.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 = 1: halving h multiplies the error by about 0.5.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391363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log–log fitted slope estimates p.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 the slope together with its fitting range, uncertainty, and reference-solution error.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423160"/>
            <a:ext cx="10149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Model 1: Verification against an Exact Solution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0" y="3255264"/>
            <a:ext cx="670255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3502152"/>
            <a:ext cx="9445752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Geometric Brownian motion as a controlled benchmark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Geometric Brownian Motion as a Test Equation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benchmark model is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dSₜ = μSₜdt + σSₜdWₜ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S₀=100,   μ=0.05,   σ=0.30,   T=1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Drift and diffusion are proportional to the current state.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exact solution permits direct error measurement.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4398264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exact state remains positive, providing an additional diagnostic.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start here?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solver should reproduce known benchmark behaviour before it is used in a model without an exact solution.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Deriving the Exact GBM Solution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Itô's formula to log 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 log Sₜ = (μ − ½σ²)dt + σdWₜ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S₀ exp[(μ − ½σ²)t + σWₜ]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term −σ²/2 follows from the stochastic chain rule; it is not an additional financial assumption.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Exact Moments as Distribution-Level Checks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terminal state is lognormal, giving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E[Sᵀ] = S₀eᵘᵀ = 105.1271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Var(Sᵀ) = S₀²e²ᵘᵀ(eˢ²ᵀ−1) = 1040.7868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Exact-sampling estimate of the mean: 105.1987.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Exact-sampling estimate of the variance: 1045.0120.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4398264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Differences are consistent with Monte Carlo sampling variation.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One-Step Updates for GBM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methods use the same ΔWₙ ~ N(0,h).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Exact:      Sₙ₊₁ = Sₙ exp[(μ−½σ²)h + σΔWₙ]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EM:         Sₙ₊₁ = Sₙ(1 + μh + σΔWₙ)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Milstein:  Sₙ₊₁ = Sₙ[1 + μh + σΔWₙ + ½σ²((ΔWₙ)²−h)]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 comparison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Reusing the same increments ensures that terminal differences reflect numerical error rather than different random inputs.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GBM Implementation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0972800" cy="4407408"/>
          </a:xfrm>
          <a:prstGeom prst="rect">
            <a:avLst/>
          </a:prstGeom>
          <a:solidFill>
            <a:srgbClr val="F7FAFC"/>
          </a:solidFill>
          <a:ln>
            <a:solidFill>
              <a:srgbClr val="B8C7D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 = T / N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dW = np.sqrt(h) * rng.standard_normal((M, N))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S_em  = np.full(M, S0)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S_mil = np.full(M, S0)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for n in range(N):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dw = dW[:, n]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S_em *= 1.0 + mu*h + sigma*dw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S_mil *= (1.0 + mu*h + sigma*dw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      + 0.5*sigma**2*(dw**2 - h))</a:t>
            </a:r>
            <a:endParaRPr lang="en-US" sz="1420" dirty="0"/>
          </a:p>
          <a:p>
            <a:pPr indent="0" marL="0">
              <a:buNone/>
            </a:pP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W_T = dW.sum(axis=1)</a:t>
            </a:r>
            <a:endParaRPr lang="en-US" sz="1420" dirty="0"/>
          </a:p>
          <a:p>
            <a:pPr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S_exact = S0*np.exp((mu - 0.5*sigma**2)*T + sigma*W_T)</a:t>
            </a:r>
            <a:endParaRPr lang="en-US" sz="1420" dirty="0"/>
          </a:p>
        </p:txBody>
      </p:sp>
      <p:sp>
        <p:nvSpPr>
          <p:cNvPr id="4" name="Shape 2"/>
          <p:cNvSpPr/>
          <p:nvPr/>
        </p:nvSpPr>
        <p:spPr>
          <a:xfrm>
            <a:off x="685800" y="5440680"/>
            <a:ext cx="10808208" cy="8229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5513832"/>
            <a:ext cx="10552176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points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3816" y="5769864"/>
            <a:ext cx="10552176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arrays advance M paths simultaneously, and the exact value uses the sum of the same increments.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GBM Experimental Protocol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T=1, grid sizes N=2ᵏ, and step size h=T/N.</a:t>
            </a:r>
            <a:endParaRPr lang="en-US" sz="1620" dirty="0"/>
          </a:p>
        </p:txBody>
      </p:sp>
      <p:sp>
        <p:nvSpPr>
          <p:cNvPr id="4" name="Text 2"/>
          <p:cNvSpPr/>
          <p:nvPr/>
        </p:nvSpPr>
        <p:spPr>
          <a:xfrm>
            <a:off x="658368" y="1531620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 number of paths and a recorded random seed are used.</a:t>
            </a:r>
            <a:endParaRPr lang="en-US" sz="1620" dirty="0"/>
          </a:p>
        </p:txBody>
      </p:sp>
      <p:sp>
        <p:nvSpPr>
          <p:cNvPr id="5" name="Text 3"/>
          <p:cNvSpPr/>
          <p:nvPr/>
        </p:nvSpPr>
        <p:spPr>
          <a:xfrm>
            <a:off x="658368" y="2258568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error: M⁻¹Σᵢ|Sᵀ,ᵢʰ − Sᵀ,ᵢ exact|.</a:t>
            </a:r>
            <a:endParaRPr lang="en-US" sz="1620" dirty="0"/>
          </a:p>
        </p:txBody>
      </p:sp>
      <p:sp>
        <p:nvSpPr>
          <p:cNvPr id="6" name="Text 4"/>
          <p:cNvSpPr/>
          <p:nvPr/>
        </p:nvSpPr>
        <p:spPr>
          <a:xfrm>
            <a:off x="658368" y="2985516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error is computed from the pathwise absolute differences.</a:t>
            </a:r>
            <a:endParaRPr lang="en-US" sz="1620" dirty="0"/>
          </a:p>
        </p:txBody>
      </p:sp>
      <p:sp>
        <p:nvSpPr>
          <p:cNvPr id="7" name="Text 5"/>
          <p:cNvSpPr/>
          <p:nvPr/>
        </p:nvSpPr>
        <p:spPr>
          <a:xfrm>
            <a:off x="658368" y="3712464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mean error is evaluated analytically whenever possible.</a:t>
            </a:r>
            <a:endParaRPr lang="en-US" sz="1620" dirty="0"/>
          </a:p>
        </p:txBody>
      </p:sp>
      <p:sp>
        <p:nvSpPr>
          <p:cNvPr id="8" name="Text 6"/>
          <p:cNvSpPr/>
          <p:nvPr/>
        </p:nvSpPr>
        <p:spPr>
          <a:xfrm>
            <a:off x="658368" y="4439412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Log–log regression is applied over a stated asymptotic range.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of the random seed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 seed does not improve accuracy. It permits exact reproduction of the pseudorandom sample.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GBM Strong-Convergence Results</a:t>
            </a:r>
            <a:endParaRPr lang="en-US" sz="2400" dirty="0"/>
          </a:p>
        </p:txBody>
      </p:sp>
      <p:pic>
        <p:nvPicPr>
          <p:cNvPr id="3" name="Image 0" descr="Log-log strong convergence plot for GBM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713232"/>
            <a:ext cx="11201400" cy="5230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980176"/>
            <a:ext cx="1092708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Fitted slopes: Euler–Maruyama 0.500; Milstein 0.991.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Interpreting the Strong-Error Plot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051560"/>
          <a:ext cx="10652760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2194560"/>
                <a:gridCol w="3246120"/>
              </a:tblGrid>
              <a:tr h="609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Method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N=64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N=1024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Reduction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Euler–Maruyama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0.66641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0.16658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about 4×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Milstein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0.02391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0.00153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about 15.6×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Increasing N by 16 reduces h by 16. The observed reductions agree with strong order 1/2 for EM and order 1 for Milstein.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Individual Challenge: Before and After</a:t>
            </a:r>
            <a:endParaRPr lang="en-US" sz="2400" dirty="0"/>
          </a:p>
        </p:txBody>
      </p:sp>
      <p:pic>
        <p:nvPicPr>
          <p:cNvPr id="3" name="Image 0" descr="Convergence figure before improve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777240"/>
            <a:ext cx="5669280" cy="4343400"/>
          </a:xfrm>
          <a:prstGeom prst="rect">
            <a:avLst/>
          </a:prstGeom>
        </p:spPr>
      </p:pic>
      <p:pic>
        <p:nvPicPr>
          <p:cNvPr id="4" name="Image 1" descr="Convergence figure after improve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99632" y="777240"/>
            <a:ext cx="5669280" cy="4343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" y="5074920"/>
            <a:ext cx="512064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BEFORE: error curves alone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327648" y="5074920"/>
            <a:ext cx="525780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AFTER: repeated-run error bars, theory guides, fitted slopes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1097280" y="5605272"/>
            <a:ext cx="9994392" cy="676656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225296" y="5678424"/>
            <a:ext cx="97383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Improvement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225296" y="5934456"/>
            <a:ext cx="97383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qualitative visual claim becomes quantitative, checkable, and reproducible evidence.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Analytic Weak Mean Error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Euler–Maruyama satisfies E[Sₙ₊₁ | Sₙ] = Sₙ(1+μh).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E[Sᴺ EM] = S₀(1+μh)ᵀᐟʰ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|S₀(1+μh)ᵀᐟʰ − S₀eᵘᵀ| = O(h)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Milstein correction has zero expectation.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 EM and Milstein have the same terminal mean and the same weak mean bias.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GBM Weak-Convergence Results</a:t>
            </a:r>
            <a:endParaRPr lang="en-US" sz="2400" dirty="0"/>
          </a:p>
        </p:txBody>
      </p:sp>
      <p:pic>
        <p:nvPicPr>
          <p:cNvPr id="3" name="Image 0" descr="GBM weak convergence plo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713232"/>
            <a:ext cx="11201400" cy="5230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980176"/>
            <a:ext cx="1092708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slope 0.999; Milstein slope 1.000. The curves coincide because the analytic mean bias is identical.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Better Paths Do Not Improve This Mean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Milstein improves the agreement of each numerical path with the exact path.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additional correction has zero expectation.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523744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φ(S)=S, EM and Milstein therefore have identical weak errors.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3383280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different nonlinear observable may produce a different comparison.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Orders require an error criterion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Milstein has higher strong order in this benchmark. This does not imply higher weak order for every observable.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Check</a:t>
            </a:r>
            <a:endParaRPr lang="en-US" sz="2400" dirty="0"/>
          </a:p>
        </p:txBody>
      </p:sp>
      <p:pic>
        <p:nvPicPr>
          <p:cNvPr id="3" name="Image 0" descr="GBM distribution and moment diagnostic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713232"/>
            <a:ext cx="11201400" cy="5230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980176"/>
            <a:ext cx="1092708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empirical distribution agrees with the exact lognormal benchmark; moments agree within sampling uncertainty.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Positivity Check</a:t>
            </a:r>
            <a:endParaRPr lang="en-US" sz="2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234440"/>
          <a:ext cx="10360152" cy="2423160"/>
        </p:xfrm>
        <a:graphic>
          <a:graphicData uri="http://schemas.openxmlformats.org/drawingml/2006/table">
            <a:tbl>
              <a:tblPr/>
              <a:tblGrid>
                <a:gridCol w="4206240"/>
                <a:gridCol w="3200400"/>
                <a:gridCol w="2953512"/>
              </a:tblGrid>
              <a:tr h="6057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Terminal-value method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Negative values / paths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Empirical frequency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update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 / 160000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0.000%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Euler–Maruyama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 / 160000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0.000%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Milstein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 / 160000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0.000%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of the result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an empirical terminal-time frequency for the reported parameters and grids, not a proof of positivity preservation.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GBM Benchmark Established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Brownian increments use the correct √h scaling.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and numerical values are coupled through the same 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523744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and Milstein reproduce their expected strong orders.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3383280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methods have first-order weak mean error for an analytic reason.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4242816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Moment, distribution, and positivity checks support the implementation.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the unavailable exact solution by a controlled fine-grid numerical reference.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423160"/>
            <a:ext cx="10149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Model 2: Nested-Grid Verification without an Exact Solution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0" y="3255264"/>
            <a:ext cx="670255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3502152"/>
            <a:ext cx="9445752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State-dependent volatility, correlated noise, and a numerical reference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Non-Affine Model with State-Dependent Volatility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Sₜ=eˣᵗ and consider the coupled system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dXₜ = [μ − ½g(Yₜ)²]dt + g(Yₜ)dWₜ⁽¹⁾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dYₜ = κ(θ−Yₜ)dt + ξ√(1+Yₜ²)dWₜ⁽²⁾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g(y)=0.1 + 0.4/(1+e⁻ʸ),    Corr(dW⁽¹⁾,dW⁽²⁾)=ρ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 changes the noise amplitude of X.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coefficient functions are non-affine.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4398264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directly usable exact terminal solution is available.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Parameter Set</a:t>
            </a:r>
            <a:endParaRPr lang="en-US" sz="24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10725912" cy="4480560"/>
        </p:xfrm>
        <a:graphic>
          <a:graphicData uri="http://schemas.openxmlformats.org/drawingml/2006/table">
            <a:tbl>
              <a:tblPr/>
              <a:tblGrid>
                <a:gridCol w="1828800"/>
                <a:gridCol w="6720840"/>
                <a:gridCol w="2176272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Parameter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Numerical role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Value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S₀, Y₀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Initial conditions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100, 0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μ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 growth component of X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0.05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κ, θ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Mean-reversion rate and centre for Y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2, −0.2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ξ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Noise scale in Y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0.6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ρ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Correlation between random drivers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−0.7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Terminal time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 interpretation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Treat S as a positive state and Y as a second state controlling its instantaneous random fluctuation.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Generating Correlated Brownian Increments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independent Z₁,Z₂ ~ N(0,1) and set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ΔW₁ = √h Z₁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ΔW₂ = √h [ρZ₁ + √(1−ρ²) Z₂]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Var(ΔW₁)=Var(ΔW₂)=h,      Corr(ΔW₁,ΔW₂)=ρ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sample correlation: −0.699675. Target correlation: −0.7.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Discretise X = log S?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direct Euler step for S can become negative after a large negative random increment.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Sₙ = exp(Xₙ) &gt; 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X first, then transform back to S.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Positivity is automatic whenever X remains finite.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Structure-aware discretisation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variable transformation uses analytic structure to preserve a state constraint.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Synchronous Euler–Maruyama Update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components use the old state Yₙ: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Xₙ₊₁ = Xₙ + [μ−½g(Yₙ)²]h + g(Yₙ)ΔW₁,ₙ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Yₙ₊₁ = Yₙ + κ(θ−Yₙ)h + ξ√(1+Yₙ²)ΔW₂,ₙ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Sₙ₊₁ = exp(Xₙ₊₁)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 of synchronous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Updating Y first and using the new value in the X step would implement a different numerical scheme.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Details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94360" y="841248"/>
            <a:ext cx="10972800" cy="4480560"/>
          </a:xfrm>
          <a:prstGeom prst="rect">
            <a:avLst/>
          </a:prstGeom>
          <a:solidFill>
            <a:srgbClr val="F7FAFC"/>
          </a:solidFill>
          <a:ln>
            <a:solidFill>
              <a:srgbClr val="B8C7D1"/>
            </a:solidFill>
          </a:ln>
        </p:spPr>
        <p:txBody>
          <a:bodyPr wrap="square" lIns="1778" tIns="1778" rIns="1778" bIns="1778" rtlCol="0" anchor="ctr">
            <a:normAutofit/>
          </a:bodyPr>
          <a:lstStyle/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def g(y):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# stable sigmoid avoids exponential overflow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return 0.1 + 0.4 * expit(y)</a:t>
            </a:r>
            <a:endParaRPr lang="en-US" sz="1430" dirty="0"/>
          </a:p>
          <a:p>
            <a:pPr indent="0" marL="0">
              <a:buNone/>
            </a:pP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for n in range(N):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y_old = y.copy()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gy = g(y_old)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x += (mu - 0.5*gy**2)*h + gy*dW1[:, n]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y += kappa*(theta - y_old)*h \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     + xi*np.sqrt(1.0 + y_old**2)*dW2[:, n]</a:t>
            </a:r>
            <a:endParaRPr lang="en-US" sz="1430" dirty="0"/>
          </a:p>
          <a:p>
            <a:pPr indent="0" marL="0">
              <a:buNone/>
            </a:pP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assert np.isfinite(x).all() and np.isfinite(y).all()</a:t>
            </a:r>
            <a:endParaRPr lang="en-US" sz="1430" dirty="0"/>
          </a:p>
          <a:p>
            <a:pPr indent="0" marL="0">
              <a:buNone/>
            </a:pPr>
            <a:r>
              <a:rPr lang="en-US" sz="1430" dirty="0">
                <a:solidFill>
                  <a:srgbClr val="17212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 = np.exp(x)</a:t>
            </a:r>
            <a:endParaRPr lang="en-US" sz="1430" dirty="0"/>
          </a:p>
        </p:txBody>
      </p:sp>
      <p:sp>
        <p:nvSpPr>
          <p:cNvPr id="4" name="Shape 2"/>
          <p:cNvSpPr/>
          <p:nvPr/>
        </p:nvSpPr>
        <p:spPr>
          <a:xfrm>
            <a:off x="685800" y="5486400"/>
            <a:ext cx="10808208" cy="77724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5559552"/>
            <a:ext cx="10552176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Recorded diagnostics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3816" y="5815584"/>
            <a:ext cx="10552176" cy="3749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Finite-state checks, increment variances, correlation, and the number of non-positive prices.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Exact Structural Property of the Discrete Mean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 on the current state, use E[eᵃΔᵂ] = eᵃ²ʰᐟ²: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E[Sₙ₊₁ | 𝓕ₙ] = Sₙe⁽ᵘ⁻½ᵍₙ²⁾ʰ E[eᵍₙΔᵂ]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       = Sₙeᵘʰ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E[Sᴺ] = S₀eᵘᵀ  for every h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Consequence for weak testing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observable φ(S)=S has zero discretisation bias and cannot test whether the terminal distribution is correct.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Use a Call Payoff as the Nontrivial Observable?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nonlinear terminal observable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φ(S) = (S−K)⁺ = max(S−K,0),       K=100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5532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E[φ(S)] is not determined by E[S].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2866644"/>
            <a:ext cx="10789920" cy="5532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Equal means do not imply equal payoff expectations.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3520440"/>
            <a:ext cx="10789920" cy="5532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observable detects changes in distribution shape and the upper tail.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4174236"/>
            <a:ext cx="10789920" cy="5532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kink at S=K makes a weak rate harder to resolve.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Reason for the choice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the linear mean is exact, a distribution-sensitive observable is required.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Nested Fine-Grid Reference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Construct a coarse and a fine solution from the same finest Brownian increments: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D̂ᴺ = (1/M)Σᵢ |Sᵀ,ᵢᴺ − Sᵀ,ᵢ ref|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B̂ᴺ = (1/M)Σᵢ [φ(Sᵀ,ᵢᴺ) − φ(Sᵀ,ᵢ ref)]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quantity is a coupled strong difference.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second is a paired weak-observable difference.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Precise terminology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are differences relative to a numerical reference, not known exact errors. Reference sensitivity must be checked.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Nested-Grid Experimental Design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841248"/>
          <a:ext cx="10360152" cy="5074920"/>
        </p:xfrm>
        <a:graphic>
          <a:graphicData uri="http://schemas.openxmlformats.org/drawingml/2006/table">
            <a:tbl>
              <a:tblPr/>
              <a:tblGrid>
                <a:gridCol w="3017520"/>
                <a:gridCol w="7342632"/>
              </a:tblGrid>
              <a:tr h="6343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Component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Setting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Coarse grids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 = 8, 16, 32, 64, 128, 256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Main reference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N_ref = 8192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Sensitivity references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2048, 4096, 8192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Number of paths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 = 100000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Coupling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All grids aggregate the same finest increments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 quantity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E|Sᵀᴺ − Sᵀ ref|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Weak quantities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 and paired call-payoff differences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Fitting range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strong-rate fit uses N=8,16,32,64 to reduce finite-reference curvature.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Non-Affine Strong-Difference Results</a:t>
            </a:r>
            <a:endParaRPr lang="en-US" sz="2400" dirty="0"/>
          </a:p>
        </p:txBody>
      </p:sp>
      <p:pic>
        <p:nvPicPr>
          <p:cNvPr id="3" name="Image 0" descr="Nested-grid strong convergence for the non-affine mode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713232"/>
            <a:ext cx="11201400" cy="5230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980176"/>
            <a:ext cx="1092708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fitted slope relative to N_ref=8192 is 0.491, consistent with EM strong order 1/2.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Reference-Grid Sensitivity</a:t>
            </a:r>
            <a:endParaRPr lang="en-US" sz="24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143000"/>
          <a:ext cx="10360152" cy="260604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5788152"/>
              </a:tblGrid>
              <a:tr h="6515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N_ref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Fitted slope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Interpretation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2048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0.496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Coarser reference, similar slope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4096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0.493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 to the finer result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8192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0.491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Main reported reference</a:t>
                      </a:r>
                      <a:endParaRPr lang="en-US" sz="16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conclusion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half-order trend is stable across these reference choices. This is numerical evidence, not an exact error bound.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Reference Also Has Discretisation Error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Differences between successive reference levels are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E|S²⁰⁴⁸ − S⁴⁰⁹⁶| ≈ 0.05679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E|S⁴⁰⁹⁶ − S⁸¹⁹²| ≈ 0.04016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0.04016 / 0.05679 ≈ 0.707 ≈ 2⁻¹ᐟ²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reference levels themselves show half-order reduction.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54787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8192-step solution is not exact.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4398264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is sufficiently fine to reveal a stable slope for N=8 to 64.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Non-Affine Weak Differences</a:t>
            </a:r>
            <a:endParaRPr lang="en-US" sz="2400" dirty="0"/>
          </a:p>
        </p:txBody>
      </p:sp>
      <p:pic>
        <p:nvPicPr>
          <p:cNvPr id="3" name="Image 0" descr="Weak paired differences and confidence intervals for the non-affine mode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713232"/>
            <a:ext cx="11201400" cy="5230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980176"/>
            <a:ext cx="10927080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Coarse payoff differences are resolved; fine-grid confidence intervals include zero.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No Reliable Weak Order Is Reported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N=8,16,32, paired-payoff confidence intervals exclude zero.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N=64,128,256, the intervals include zero.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2523744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fine levels, the sign and magnitude are sensitive to sampling noise.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3383280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log–log fit would mistake noise for an asymptotic law.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4242816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kink in the payoff makes the asymptotic regime harder to resolve.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interpretation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differences decrease, but the sample budget is insufficient for a credible weak-order estimate. This limits the evidence; it does not show scheme failure.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Sample-Size Experiment</a:t>
            </a:r>
            <a:endParaRPr lang="en-US" sz="24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097280"/>
          <a:ext cx="11018520" cy="260604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2560320"/>
                <a:gridCol w="3886200"/>
              </a:tblGrid>
              <a:tr h="6515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Paired difference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Standard error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95% interval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10,000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0.009045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0.005149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[−0.001048, 0.019137]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40,000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0.004942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0.002592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[−0.000139, 0.010022]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100,000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0.001722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0.001633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[−0.001479, 0.004923]</a:t>
                      </a:r>
                      <a:endParaRPr lang="en-US" sz="15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error decreases approximately as M⁻¹ᐟ², but all three intervals still include zero.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Mean and Implementation Diagnostics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exact discrete-mean identity predicts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E[Sᵀᴺ] = 100e⁰·⁰⁵ = 105.1271</a:t>
            </a:r>
            <a:endParaRPr lang="en-US" sz="1700" dirty="0"/>
          </a:p>
          <a:p>
            <a:pPr algn="ctr" indent="0" marL="0">
              <a:buNone/>
            </a:pP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Simulation: 105.08796,    95% CI [104.89962, 105.27629]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Payoff: 14.53804,          95% CI [14.40515, 14.67093]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" y="5230368"/>
            <a:ext cx="10789920" cy="10515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5303520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roles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5559552"/>
            <a:ext cx="10533888" cy="6492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mean checks the implementation; the nonlinear payoff probes distributional weak error.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Numerical Diagnostic Checklist</a:t>
            </a:r>
            <a:endParaRPr lang="en-US" sz="24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914400"/>
          <a:ext cx="10817352" cy="4526280"/>
        </p:xfrm>
        <a:graphic>
          <a:graphicData uri="http://schemas.openxmlformats.org/drawingml/2006/table">
            <a:tbl>
              <a:tblPr/>
              <a:tblGrid>
                <a:gridCol w="3108960"/>
                <a:gridCol w="7708392"/>
              </a:tblGrid>
              <a:tr h="6466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3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Diagnostic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3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Observation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Increment variances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Consistent with 1/8192 ≈ 1.221×10⁻⁴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Increment correlation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−0.699675; target −0.7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Finite states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All reported X, Y, and S values were finite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Positivity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S=exp(X) remained positive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Exact mean identity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theoretical mean lies inside the empirical interval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Reference sensitivity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3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Three reference grids give similar strong slopes</a:t>
                      </a:r>
                      <a:endParaRPr lang="en-US" sz="14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Principle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visually convincing convergence plot does not replace these diagnostics.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423160"/>
            <a:ext cx="10149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Evaluation, Reproducibility, and Conclusions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0" y="3255264"/>
            <a:ext cx="670255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3502152"/>
            <a:ext cx="9445752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evidence supports and how the result can be audited</a:t>
            </a:r>
            <a:endParaRPr lang="en-US" sz="17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Coursework Requires</a:t>
            </a:r>
            <a:endParaRPr lang="en-US" sz="24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41248"/>
          <a:ext cx="11365992" cy="4892040"/>
        </p:xfrm>
        <a:graphic>
          <a:graphicData uri="http://schemas.openxmlformats.org/drawingml/2006/table">
            <a:tbl>
              <a:tblPr/>
              <a:tblGrid>
                <a:gridCol w="2331720"/>
                <a:gridCol w="4023360"/>
                <a:gridCol w="5010912"/>
              </a:tblGrid>
              <a:tr h="6988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Component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Required task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7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Evidence reported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6988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GBM strong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Compare EM/Milstein with theory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Slopes 0.500 and 0.991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988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GBM weak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Choose and explain an observable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Analytic first-order mean bias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88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Diagnostics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 and positivity checks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Moments, histogram, frequency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988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Non-affine strong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Nested grids and sensitivity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Stable half-order trend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88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Non-affine weak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Intervals and justified conclusion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Trend visible; rate unresolved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6988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Reproducibility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Commands, seed, environment, Git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7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Traceable code and outputs</a:t>
                      </a:r>
                      <a:endParaRPr lang="en-US" sz="127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21792" y="5623560"/>
            <a:ext cx="10954512" cy="685800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49808" y="5696712"/>
            <a:ext cx="10698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order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49808" y="5952744"/>
            <a:ext cx="10698480" cy="2834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requirement is a sound experiment and evidence-based interpretation, not a forced slope from unresolved data.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 Structure Mirrors the Mathematics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Parameters: initial data, coefficients, T, grids, paths, and seed.</a:t>
            </a:r>
            <a:endParaRPr lang="en-US" sz="1620" dirty="0"/>
          </a:p>
        </p:txBody>
      </p:sp>
      <p:sp>
        <p:nvSpPr>
          <p:cNvPr id="4" name="Text 2"/>
          <p:cNvSpPr/>
          <p:nvPr/>
        </p:nvSpPr>
        <p:spPr>
          <a:xfrm>
            <a:off x="658368" y="1531620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increments: finest-grid normal samples and correlation transform.</a:t>
            </a:r>
            <a:endParaRPr lang="en-US" sz="1620" dirty="0"/>
          </a:p>
        </p:txBody>
      </p:sp>
      <p:sp>
        <p:nvSpPr>
          <p:cNvPr id="5" name="Text 3"/>
          <p:cNvSpPr/>
          <p:nvPr/>
        </p:nvSpPr>
        <p:spPr>
          <a:xfrm>
            <a:off x="658368" y="2258568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Solvers: EM, Milstein, and log-variable EM.</a:t>
            </a:r>
            <a:endParaRPr lang="en-US" sz="1620" dirty="0"/>
          </a:p>
        </p:txBody>
      </p:sp>
      <p:sp>
        <p:nvSpPr>
          <p:cNvPr id="6" name="Text 4"/>
          <p:cNvSpPr/>
          <p:nvPr/>
        </p:nvSpPr>
        <p:spPr>
          <a:xfrm>
            <a:off x="658368" y="2985516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Coupling: aggregation of fine increments for each coarse grid.</a:t>
            </a:r>
            <a:endParaRPr lang="en-US" sz="1620" dirty="0"/>
          </a:p>
        </p:txBody>
      </p:sp>
      <p:sp>
        <p:nvSpPr>
          <p:cNvPr id="7" name="Text 5"/>
          <p:cNvSpPr/>
          <p:nvPr/>
        </p:nvSpPr>
        <p:spPr>
          <a:xfrm>
            <a:off x="658368" y="3712464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Statistics: means, standard errors, intervals, and fitted slopes.</a:t>
            </a:r>
            <a:endParaRPr lang="en-US" sz="1620" dirty="0"/>
          </a:p>
        </p:txBody>
      </p:sp>
      <p:sp>
        <p:nvSpPr>
          <p:cNvPr id="8" name="Text 6"/>
          <p:cNvSpPr/>
          <p:nvPr/>
        </p:nvSpPr>
        <p:spPr>
          <a:xfrm>
            <a:off x="658368" y="4439412"/>
            <a:ext cx="10927080" cy="6172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Outputs: tables, figures, data, and run metadata.</a:t>
            </a:r>
            <a:endParaRPr lang="en-US" sz="1620" dirty="0"/>
          </a:p>
        </p:txBody>
      </p:sp>
      <p:sp>
        <p:nvSpPr>
          <p:cNvPr id="9" name="Shape 7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benefit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anomalous plot can be traced through statistic, path, increment, and parameter layers.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Minimal Reproducibility Chain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880360" y="841248"/>
            <a:ext cx="6428232" cy="5943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53512" y="914400"/>
            <a:ext cx="6281928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Git commit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879592" y="1463040"/>
            <a:ext cx="411480" cy="274320"/>
          </a:xfrm>
          <a:prstGeom prst="downArrow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360" y="1801368"/>
            <a:ext cx="6428232" cy="59436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53512" y="1874520"/>
            <a:ext cx="6281928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recorded command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879592" y="2423160"/>
            <a:ext cx="411480" cy="274320"/>
          </a:xfrm>
          <a:prstGeom prst="downArrow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80360" y="2761488"/>
            <a:ext cx="6428232" cy="5943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53512" y="2834640"/>
            <a:ext cx="6281928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the seed and record versions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879592" y="3383280"/>
            <a:ext cx="411480" cy="274320"/>
          </a:xfrm>
          <a:prstGeom prst="downArrow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0360" y="3721608"/>
            <a:ext cx="6428232" cy="59436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3794760"/>
            <a:ext cx="6281928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raw output and figure data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879592" y="4343400"/>
            <a:ext cx="411480" cy="274320"/>
          </a:xfrm>
          <a:prstGeom prst="downArrow">
            <a:avLst/>
          </a:prstGeom>
          <a:solidFill>
            <a:srgbClr val="168C8C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80360" y="4681728"/>
            <a:ext cx="6428232" cy="59436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53512" y="4754880"/>
            <a:ext cx="6281928" cy="4480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 the reported precision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960120" y="5632704"/>
            <a:ext cx="10268712" cy="658368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8136" y="5705856"/>
            <a:ext cx="100126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rule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88136" y="5961888"/>
            <a:ext cx="1001268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script output and the report disagree, correct the report or identify the version difference.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Eight Common Failure Modes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hZ instead of √h Z for Brownian increments.</a:t>
            </a:r>
            <a:endParaRPr lang="en-US" sz="1540" dirty="0"/>
          </a:p>
        </p:txBody>
      </p:sp>
      <p:sp>
        <p:nvSpPr>
          <p:cNvPr id="4" name="Text 2"/>
          <p:cNvSpPr/>
          <p:nvPr/>
        </p:nvSpPr>
        <p:spPr>
          <a:xfrm>
            <a:off x="658368" y="1453896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Comparing independent paths when measuring strong error.</a:t>
            </a:r>
            <a:endParaRPr lang="en-US" sz="1540" dirty="0"/>
          </a:p>
        </p:txBody>
      </p:sp>
      <p:sp>
        <p:nvSpPr>
          <p:cNvPr id="5" name="Text 3"/>
          <p:cNvSpPr/>
          <p:nvPr/>
        </p:nvSpPr>
        <p:spPr>
          <a:xfrm>
            <a:off x="658368" y="2103120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Confusing sample standard deviation with standard error.</a:t>
            </a:r>
            <a:endParaRPr lang="en-US" sz="1540" dirty="0"/>
          </a:p>
        </p:txBody>
      </p:sp>
      <p:sp>
        <p:nvSpPr>
          <p:cNvPr id="6" name="Text 4"/>
          <p:cNvSpPr/>
          <p:nvPr/>
        </p:nvSpPr>
        <p:spPr>
          <a:xfrm>
            <a:off x="658368" y="2752344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Refining h without checking the Monte Carlo noise floor.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658368" y="3401568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Updating Y before the synchronous X update.</a:t>
            </a:r>
            <a:endParaRPr lang="en-US" sz="1540" dirty="0"/>
          </a:p>
        </p:txBody>
      </p:sp>
      <p:sp>
        <p:nvSpPr>
          <p:cNvPr id="8" name="Text 6"/>
          <p:cNvSpPr/>
          <p:nvPr/>
        </p:nvSpPr>
        <p:spPr>
          <a:xfrm>
            <a:off x="658368" y="4050792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Describing a finite fine-grid solution as exact.</a:t>
            </a:r>
            <a:endParaRPr lang="en-US" sz="1540" dirty="0"/>
          </a:p>
        </p:txBody>
      </p:sp>
      <p:sp>
        <p:nvSpPr>
          <p:cNvPr id="9" name="Text 7"/>
          <p:cNvSpPr/>
          <p:nvPr/>
        </p:nvSpPr>
        <p:spPr>
          <a:xfrm>
            <a:off x="658368" y="4700016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Fitting a weak rate to differences whose intervals include zero.</a:t>
            </a:r>
            <a:endParaRPr lang="en-US" sz="1540" dirty="0"/>
          </a:p>
        </p:txBody>
      </p:sp>
      <p:sp>
        <p:nvSpPr>
          <p:cNvPr id="10" name="Text 8"/>
          <p:cNvSpPr/>
          <p:nvPr/>
        </p:nvSpPr>
        <p:spPr>
          <a:xfrm>
            <a:off x="658368" y="5349240"/>
            <a:ext cx="1092708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4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Reporting a slope without the fitting range and diagnostics.</a:t>
            </a:r>
            <a:endParaRPr lang="en-US" sz="15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to Read a Convergence Plot Critically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 horizontal axis h, N, or computational cost?</a:t>
            </a:r>
            <a:endParaRPr lang="en-US" sz="1530" dirty="0"/>
          </a:p>
        </p:txBody>
      </p:sp>
      <p:sp>
        <p:nvSpPr>
          <p:cNvPr id="4" name="Text 2"/>
          <p:cNvSpPr/>
          <p:nvPr/>
        </p:nvSpPr>
        <p:spPr>
          <a:xfrm>
            <a:off x="658368" y="1418626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 vertical quantity an exact error or a reference difference?</a:t>
            </a:r>
            <a:endParaRPr lang="en-US" sz="1530" dirty="0"/>
          </a:p>
        </p:txBody>
      </p:sp>
      <p:sp>
        <p:nvSpPr>
          <p:cNvPr id="5" name="Text 3"/>
          <p:cNvSpPr/>
          <p:nvPr/>
        </p:nvSpPr>
        <p:spPr>
          <a:xfrm>
            <a:off x="658368" y="2032581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coarse and fine solutions driven by the same random input?</a:t>
            </a:r>
            <a:endParaRPr lang="en-US" sz="1530" dirty="0"/>
          </a:p>
        </p:txBody>
      </p:sp>
      <p:sp>
        <p:nvSpPr>
          <p:cNvPr id="6" name="Text 4"/>
          <p:cNvSpPr/>
          <p:nvPr/>
        </p:nvSpPr>
        <p:spPr>
          <a:xfrm>
            <a:off x="658368" y="2646535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error bars show standard deviation, standard error, or confidence intervals?</a:t>
            </a:r>
            <a:endParaRPr lang="en-US" sz="1530" dirty="0"/>
          </a:p>
        </p:txBody>
      </p:sp>
      <p:sp>
        <p:nvSpPr>
          <p:cNvPr id="7" name="Text 5"/>
          <p:cNvSpPr/>
          <p:nvPr/>
        </p:nvSpPr>
        <p:spPr>
          <a:xfrm>
            <a:off x="658368" y="3260489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points are used in the slope fit, and why?</a:t>
            </a:r>
            <a:endParaRPr lang="en-US" sz="1530" dirty="0"/>
          </a:p>
        </p:txBody>
      </p:sp>
      <p:sp>
        <p:nvSpPr>
          <p:cNvPr id="8" name="Text 6"/>
          <p:cNvSpPr/>
          <p:nvPr/>
        </p:nvSpPr>
        <p:spPr>
          <a:xfrm>
            <a:off x="658368" y="3874443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the finest points reach a noise or reference-error floor?</a:t>
            </a:r>
            <a:endParaRPr lang="en-US" sz="1530" dirty="0"/>
          </a:p>
        </p:txBody>
      </p:sp>
      <p:sp>
        <p:nvSpPr>
          <p:cNvPr id="9" name="Text 7"/>
          <p:cNvSpPr/>
          <p:nvPr/>
        </p:nvSpPr>
        <p:spPr>
          <a:xfrm>
            <a:off x="658368" y="4488398"/>
            <a:ext cx="10927080" cy="56823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53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 conclusion stable under changes in sample size or reference grid?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FCEBE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Practical rule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what the vertical axis measures before assessing linearity or reading a slope.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Conclusions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1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 and Milstein show GBM strong orders close to 1/2 and 1.</a:t>
            </a:r>
            <a:endParaRPr lang="en-US" sz="1610" dirty="0"/>
          </a:p>
        </p:txBody>
      </p:sp>
      <p:sp>
        <p:nvSpPr>
          <p:cNvPr id="4" name="Text 2"/>
          <p:cNvSpPr/>
          <p:nvPr/>
        </p:nvSpPr>
        <p:spPr>
          <a:xfrm>
            <a:off x="658368" y="1655064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1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the terminal mean, both methods share the same first-order weak bias.</a:t>
            </a:r>
            <a:endParaRPr lang="en-US" sz="1610" dirty="0"/>
          </a:p>
        </p:txBody>
      </p:sp>
      <p:sp>
        <p:nvSpPr>
          <p:cNvPr id="5" name="Text 3"/>
          <p:cNvSpPr/>
          <p:nvPr/>
        </p:nvSpPr>
        <p:spPr>
          <a:xfrm>
            <a:off x="658368" y="2505456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1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Nested-grid experiments support half-order strong convergence in the non-affine model.</a:t>
            </a:r>
            <a:endParaRPr lang="en-US" sz="1610" dirty="0"/>
          </a:p>
        </p:txBody>
      </p:sp>
      <p:sp>
        <p:nvSpPr>
          <p:cNvPr id="6" name="Text 4"/>
          <p:cNvSpPr/>
          <p:nvPr/>
        </p:nvSpPr>
        <p:spPr>
          <a:xfrm>
            <a:off x="658368" y="335584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1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non-affine discretisation preserves the mean exactly, so a nonlinear observable is required.</a:t>
            </a:r>
            <a:endParaRPr lang="en-US" sz="1610" dirty="0"/>
          </a:p>
        </p:txBody>
      </p:sp>
      <p:sp>
        <p:nvSpPr>
          <p:cNvPr id="7" name="Text 5"/>
          <p:cNvSpPr/>
          <p:nvPr/>
        </p:nvSpPr>
        <p:spPr>
          <a:xfrm>
            <a:off x="658368" y="4206240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1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 path budget supports a decreasing weak-difference trend, but not a credible weak order.</a:t>
            </a:r>
            <a:endParaRPr lang="en-US" sz="1610" dirty="0"/>
          </a:p>
        </p:txBody>
      </p:sp>
      <p:sp>
        <p:nvSpPr>
          <p:cNvPr id="8" name="Text 6"/>
          <p:cNvSpPr/>
          <p:nvPr/>
        </p:nvSpPr>
        <p:spPr>
          <a:xfrm>
            <a:off x="658368" y="505663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1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Confidence intervals, reference sensitivity, and diagnostics are as important as fitted slopes.</a:t>
            </a:r>
            <a:endParaRPr lang="en-US" sz="16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Possible Extensions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58368" y="804672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Increase paired samples or use a control variate for payoff differences.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Balance h and M under a fixed computational budget.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2523744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the reference grid and quantify its systematic contribution.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3383280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uncertainty in the fitted convergence slope.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4242816"/>
            <a:ext cx="109270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Monte Carlo with a finite-difference solution of the associated backward PDE.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58368" y="5285232"/>
            <a:ext cx="10927080" cy="1024128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5358384"/>
            <a:ext cx="1067104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6384" y="5614416"/>
            <a:ext cx="10671048" cy="6217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present coursework should first explain its existing evidence and limitations clearly before adding further machinery.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28800" y="1828800"/>
            <a:ext cx="8531352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828800" y="2743200"/>
            <a:ext cx="8531352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0" y="3794760"/>
            <a:ext cx="8531352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168C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Starting from the Euler method, three additions were essential:</a:t>
            </a:r>
            <a:endParaRPr lang="en-US" sz="1750" dirty="0"/>
          </a:p>
          <a:p>
            <a:pPr algn="ctr" indent="0" marL="0">
              <a:buNone/>
            </a:pPr>
            <a:r>
              <a:rPr lang="en-US" sz="1750" b="1" dirty="0">
                <a:solidFill>
                  <a:srgbClr val="168C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increments, repeated sampling, and quantified uncertainty.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3291840" y="5166360"/>
            <a:ext cx="560527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2423160"/>
            <a:ext cx="1014984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36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Backup Derivations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0" y="3255264"/>
            <a:ext cx="6702552" cy="0"/>
          </a:xfrm>
          <a:prstGeom prst="line">
            <a:avLst/>
          </a:prstGeom>
          <a:noFill/>
          <a:ln w="12700">
            <a:solidFill>
              <a:srgbClr val="168C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3502152"/>
            <a:ext cx="9445752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55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Additional detail for questions</a:t>
            </a:r>
            <a:endParaRPr lang="en-US" sz="17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Backup: Why Is the GBM Mean Bias First Order?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N=T/h and expand the logarithm: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log(1+μh) = μh − ½μ²h² + O(h³)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(1+μh)ᵀᐟʰ = eᵘᵀ[1 − ½μ²Th + O(h²)]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S₀(1+μh)ᵀᐟʰ − S₀eᵘᵀ = O(h)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Backup: Why Pairing Reduces Noise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two observables A and B on the same path,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749808"/>
          </a:xfrm>
          <a:prstGeom prst="roundRect">
            <a:avLst>
              <a:gd name="adj" fmla="val 4878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6035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Var(A−B) = Var(A) + Var(B) − 2Cov(A,B)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212848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Brownian path makes A and B strongly positively correlated.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" y="306324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Common path fluctuations cancel in the paired difference.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13232" y="3913632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remaining variation is mainly the discretisation difference.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Backup: Standard Error and Sample Size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2708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paired samples D₁,…,Dᴹ,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10789920" cy="1234440"/>
          </a:xfrm>
          <a:prstGeom prst="roundRect">
            <a:avLst>
              <a:gd name="adj" fmla="val 2963"/>
            </a:avLst>
          </a:prstGeom>
          <a:solidFill>
            <a:srgbClr val="F7FAFC"/>
          </a:solidFill>
          <a:ln w="12700">
            <a:solidFill>
              <a:srgbClr val="17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10570464" cy="108813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D̄ = (1/M)ΣᵢDᵢ,      SE(D̄)=sᴰ/√M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1721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M₂ ≈ M₁(ε₁/ε₂)²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2697480"/>
            <a:ext cx="1078992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sz="16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Reducing the standard error by a factor of five requires approximately 25 times as many paths.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Backup: Terminology</a:t>
            </a:r>
            <a:endParaRPr lang="en-US" sz="2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749808"/>
          <a:ext cx="11000232" cy="5468112"/>
        </p:xfrm>
        <a:graphic>
          <a:graphicData uri="http://schemas.openxmlformats.org/drawingml/2006/table">
            <a:tbl>
              <a:tblPr/>
              <a:tblGrid>
                <a:gridCol w="2971800"/>
                <a:gridCol w="8028432"/>
              </a:tblGrid>
              <a:tr h="54681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Term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2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Meaning in this coursework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Drift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Deterministic mean change per unit time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Diffusion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Amplitude of the random fluctuation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Brownian increment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Normal variable with mean 0 and variance h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Path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complete sequence Z₀,Z₁,…,Zᴺ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Observable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 terminal function φ(Zᵀ)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Strong convergence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Numerical and exact values approach on the same path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Weak convergence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Expectations of an observable approach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Nested grid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Coarse increments are sums of shared fine increments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681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Numerical reference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20" dirty="0">
                          <a:solidFill>
                            <a:srgbClr val="17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Fine-grid approximation used for an unknown exact solution</a:t>
                      </a:r>
                      <a:endParaRPr lang="en-US" sz="132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54864" marR="54864" marT="54864" marB="54864" anchor="mid">
                    <a:lnL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255" cap="flat" cmpd="sng" algn="ctr">
                      <a:solidFill>
                        <a:srgbClr val="B8C7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73152"/>
            <a:ext cx="11521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 and Project Files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7899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Course Problem Pack, Direction 4: Financial SDEs, pp. 6–7.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10789920" cy="7772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D. J. Higham, “An Algorithmic Introduction to Numerical Simulation of Stochastic Differential Equations,” SIAM Review, 43(3), 2001.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2651760"/>
            <a:ext cx="10789920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P. E. Kloeden and E. Platen, Numerical Solution of Stochastic Differential Equations, Springer, 1992.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3794760"/>
            <a:ext cx="10789920" cy="914400"/>
          </a:xfrm>
          <a:prstGeom prst="roundRect">
            <a:avLst/>
          </a:prstGeom>
          <a:solidFill>
            <a:srgbClr val="EEF4F8"/>
          </a:solidFill>
          <a:ln w="12700">
            <a:solidFill>
              <a:srgbClr val="168C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3867912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6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files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4123944"/>
            <a:ext cx="10533888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gbm.py, nonaffine.py, results/, undergraduate_revision/, and presentation/.</a:t>
            </a:r>
            <a:endParaRPr lang="en-US" sz="1420" dirty="0"/>
          </a:p>
        </p:txBody>
      </p:sp>
      <p:sp>
        <p:nvSpPr>
          <p:cNvPr id="9" name="Shape 7"/>
          <p:cNvSpPr/>
          <p:nvPr/>
        </p:nvSpPr>
        <p:spPr>
          <a:xfrm>
            <a:off x="685800" y="5074920"/>
            <a:ext cx="10789920" cy="914400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5148072"/>
            <a:ext cx="10533888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format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3816" y="5404104"/>
            <a:ext cx="10533888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titles, body text, tables, flow diagrams, and formula text in this deck are native PowerPoint objects.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52760" y="6574536"/>
            <a:ext cx="109728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6778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Numerical Partial Differential Equations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Numerical Simulation of Financial Stochastic Differential Equations</dc:title>
  <dc:subject>Numerical simulation of financial stochastic differential equations</dc:subject>
  <dc:creator>Numerical PDE Coursework</dc:creator>
  <cp:lastModifiedBy>Numerical PDE Coursework</cp:lastModifiedBy>
  <cp:revision>1</cp:revision>
  <dcterms:created xsi:type="dcterms:W3CDTF">2026-09-23T04:26:23Z</dcterms:created>
  <dcterms:modified xsi:type="dcterms:W3CDTF">2026-09-23T04:26:23Z</dcterms:modified>
</cp:coreProperties>
</file>